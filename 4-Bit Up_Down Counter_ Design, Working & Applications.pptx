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Plus Jakarta Sans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aea0e34c-b1a9-4183-8e2c-1efe0f4cb7b2.fntdata" /><ns0:Relationship Id="rIdFont15" Type="http://schemas.openxmlformats.org/officeDocument/2006/relationships/font" Target="fonts/54cca219-c7a1-468d-87c9-0dc7bbe6cb6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609058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244179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582316"/>
            <a:ext cx="9101137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Plus Jakarta Sans"/>
              </a:rPr>
              <a:t>4-Bit Up/Down Counter with Reset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999458"/>
            <a:ext cx="8334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Architecture, operational principles, and real-world industrial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210841"/>
            <a:ext cx="2476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DIGITAL LOGIC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568773"/>
            <a:ext cx="3352800" cy="2428875"/>
          </a:xfrm>
          <a:prstGeom prst="roundRect">
            <a:avLst>
              <a:gd name="adj" fmla="val 62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440185"/>
            <a:ext cx="3352800" cy="2686050"/>
          </a:xfrm>
          <a:prstGeom prst="roundRect">
            <a:avLst>
              <a:gd name="adj" fmla="val 56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568773"/>
            <a:ext cx="3352800" cy="2428875"/>
          </a:xfrm>
          <a:prstGeom prst="roundRect">
            <a:avLst>
              <a:gd name="adj" fmla="val 62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883098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925" y="275451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883098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150" y="3006923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5850" y="2878335"/>
            <a:ext cx="1333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5350" y="3006923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Core Architecture &amp; Specifications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530798"/>
            <a:ext cx="35754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4-Bit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911798"/>
            <a:ext cx="28194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Represents 16 distinct states from decimal 0 (0000) to 15 (1111) using four interconnected flip-flops.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3925" y="3402210"/>
            <a:ext cx="35754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Bidirectional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3925" y="3783210"/>
            <a:ext cx="28194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Direction control input switches seamlessly between ascending and descending counting sequences.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3530798"/>
            <a:ext cx="35754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Asynchronous Reset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911798"/>
            <a:ext cx="28194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Dedicated reset pin immediately clears all flip-flop outputs back to 0000 upon activation.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30685"/>
            <a:ext cx="3352800" cy="2305050"/>
          </a:xfrm>
          <a:prstGeom prst="roundRect">
            <a:avLst>
              <a:gd name="adj" fmla="val 66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759273"/>
            <a:ext cx="3352800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59273"/>
            <a:ext cx="3352800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Control Inputs and Output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2945010"/>
            <a:ext cx="35754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Clock Input (CLK)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335535"/>
            <a:ext cx="281940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Provides timing pulses that dictate when the state transitions occur. Every clock edge advances or decrements the count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3925" y="3073598"/>
            <a:ext cx="35754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A34A"/>
                </a:solidFill>
                <a:latin typeface="Plus Jakarta Sans"/>
              </a:rPr>
              <a:t>Up/Down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3925" y="3464123"/>
            <a:ext cx="28194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Logic high enables upward incrementing (0 to 15). Logic low switches the combinatorial logic to decrement downward (15 to 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1525" y="3073598"/>
            <a:ext cx="35754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C2626"/>
                </a:solidFill>
                <a:latin typeface="Plus Jakarta Sans"/>
              </a:rPr>
              <a:t>Master Reset (CLR)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464123"/>
            <a:ext cx="28194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Overrides all operations. When asserted, output register states immediately force to binary zero (0000) for safe initialization.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25948"/>
            <a:ext cx="5181600" cy="1914525"/>
          </a:xfrm>
          <a:prstGeom prst="roundRect">
            <a:avLst>
              <a:gd name="adj" fmla="val 79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25948"/>
            <a:ext cx="5181600" cy="1914525"/>
          </a:xfrm>
          <a:prstGeom prst="roundRect">
            <a:avLst>
              <a:gd name="adj" fmla="val 79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Operational Sequence &amp;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6325" y="3140273"/>
            <a:ext cx="59757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Up Counting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62725" y="3140273"/>
            <a:ext cx="56292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Down Counting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530798"/>
            <a:ext cx="5691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Sequence: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0000 → 0001 → ... → 1111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873698"/>
            <a:ext cx="5691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Behavior: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Increments by +1 on each clock 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4207073"/>
            <a:ext cx="5691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Roll-over: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Resets to 0000 after 1111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530798"/>
            <a:ext cx="56292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Sequence: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1111 → 1110 → ... → 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873698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Behavior: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Decrements by -1 on each clock 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207073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Roll-under: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Resets to 1111 after 0000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87860"/>
            <a:ext cx="5181600" cy="1790700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87860"/>
            <a:ext cx="5181600" cy="1790700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Combinational Logic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6325" y="3202185"/>
            <a:ext cx="59757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Flip-Flop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3592710"/>
            <a:ext cx="46482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Built using four JK or D flip-flops coupled with XOR and AND gates to steer the toggle inputs according to direction commands.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202185"/>
            <a:ext cx="56292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Synchronous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592710"/>
            <a:ext cx="46482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All flip-flops share a common clock pulse, eliminating propagation delay ripple errors and enabling reliable high-speed operation.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45035"/>
            <a:ext cx="340355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145035"/>
            <a:ext cx="340355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45035"/>
            <a:ext cx="340355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Industrial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225" y="3421260"/>
            <a:ext cx="374206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Parking Garages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726060"/>
            <a:ext cx="29463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Tracks vehicle entry and exit to monitor available lot capacity.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0375" y="3421260"/>
            <a:ext cx="374206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Motor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0375" y="3726060"/>
            <a:ext cx="29463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Controls shaft rotation angles and bidirectional stepper movements.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525" y="3421260"/>
            <a:ext cx="374206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Digital Timers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525" y="3726060"/>
            <a:ext cx="29463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Generates clock dividers and precise interval countdown sequences.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286250"/>
            <a:ext cx="4572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5868" y="2543175"/>
            <a:ext cx="2100262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F8FAFC"/>
                </a:solidFill>
                <a:latin typeface="Plus Jakarta Sans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31156" y="3124200"/>
            <a:ext cx="8929687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The 4-bit up/down counter with reset is a foundational building block in digital systems, providing reliable bidirectional state control, synchronous timing, and clean initialization.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